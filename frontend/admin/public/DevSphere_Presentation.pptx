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5486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⚛  BCA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594360"/>
            <a:ext cx="3566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Segoe UI"/>
              </a:defRPr>
            </a:pPr>
            <a:r>
              <a:t>Academic Year 2026–2027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3108960" cy="420624"/>
          </a:xfrm>
          <a:prstGeom prst="roundRect">
            <a:avLst/>
          </a:prstGeom>
          <a:solidFill>
            <a:srgbClr val="0F2240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Full-Stack Developer Networking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5156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Segoe UI"/>
              </a:defRPr>
            </a:pPr>
            <a:r>
              <a:t>DevSphere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Segoe UI"/>
              </a:defRPr>
            </a:pPr>
            <a:r>
              <a:t>A comprehensive MERN stack ecosystem enabling developers to connect, showcase technical profiles, share posts, and collaborate on software projects.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548640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PROJECT TEAM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Rinkal Singapuri | Ishita Patel | Prachi Patel | Diya Shah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5577840"/>
            <a:ext cx="47548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INTERNAL GUIDE &amp; UNIVERSITY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Dr. Punam Patel | KPHSCCCA, Sarvajanik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1.1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Project Definition &amp; Objective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328416" cy="39319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377440"/>
            <a:ext cx="59436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38BDF8"/>
                </a:solidFill>
              </a:defRPr>
            </a:pPr>
            <a:r>
              <a:t>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46120"/>
            <a:ext cx="2688336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The Core Objective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Centralized developer community platform created to solve fragmented collaboration in academic institutions.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2011680"/>
            <a:ext cx="3328416" cy="39319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45736" y="2377440"/>
            <a:ext cx="59436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0B981"/>
                </a:solidFill>
              </a:defRPr>
            </a:pPr>
            <a:r>
              <a:t>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3246120"/>
            <a:ext cx="2688336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MERN Architecture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Single Page Application (SPA) powered by React.js frontend, Express/Node.js backend, and MongoDB database.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2011680"/>
            <a:ext cx="3328416" cy="39319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48472" y="2377440"/>
            <a:ext cx="59436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A855F7"/>
                </a:solidFill>
              </a:defRPr>
            </a:pPr>
            <a: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3246120"/>
            <a:ext cx="2688336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Interactive Hub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Enables profile creation, project showcasing, skill tagging, and peer connection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1.2 USER ROLES &amp;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User–Wise Functionality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328416" cy="39319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331720"/>
            <a:ext cx="2688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38BDF8"/>
                </a:solidFill>
              </a:rPr>
              <a:t>⚙  </a:t>
            </a:r>
            <a:r>
              <a:rPr sz="1800" b="1">
                <a:solidFill>
                  <a:srgbClr val="FFFFFF"/>
                </a:solidFill>
                <a:latin typeface="Segoe UI"/>
              </a:rPr>
              <a:t>Developer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971800"/>
            <a:ext cx="2688336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8BDF8"/>
                </a:solidFill>
              </a:rPr>
              <a:t>✔ </a:t>
            </a:r>
            <a:r>
              <a:rPr sz="1300" b="1">
                <a:solidFill>
                  <a:srgbClr val="FFFFFF"/>
                </a:solidFill>
                <a:latin typeface="Segoe UI"/>
              </a:rPr>
              <a:t>Profile Management: </a:t>
            </a:r>
            <a:r>
              <a:rPr sz="1300">
                <a:solidFill>
                  <a:srgbClr val="94A3B8"/>
                </a:solidFill>
                <a:latin typeface="Segoe UI"/>
              </a:rPr>
              <a:t>Update bio, skills, and projects.</a:t>
            </a:r>
          </a:p>
          <a:p>
            <a:pPr>
              <a:spcBef>
                <a:spcPts val="1400"/>
              </a:spcBef>
            </a:pPr>
            <a:r>
              <a:rPr sz="1200" b="1">
                <a:solidFill>
                  <a:srgbClr val="38BDF8"/>
                </a:solidFill>
              </a:rPr>
              <a:t>✔ </a:t>
            </a:r>
            <a:r>
              <a:rPr sz="1300" b="1">
                <a:solidFill>
                  <a:srgbClr val="FFFFFF"/>
                </a:solidFill>
                <a:latin typeface="Segoe UI"/>
              </a:rPr>
              <a:t>Networking: </a:t>
            </a:r>
            <a:r>
              <a:rPr sz="1300">
                <a:solidFill>
                  <a:srgbClr val="94A3B8"/>
                </a:solidFill>
                <a:latin typeface="Segoe UI"/>
              </a:rPr>
              <a:t>Send and manage connection requests.</a:t>
            </a:r>
          </a:p>
          <a:p>
            <a:pPr>
              <a:spcBef>
                <a:spcPts val="1400"/>
              </a:spcBef>
            </a:pPr>
            <a:r>
              <a:rPr sz="1200" b="1">
                <a:solidFill>
                  <a:srgbClr val="38BDF8"/>
                </a:solidFill>
              </a:rPr>
              <a:t>✔ </a:t>
            </a:r>
            <a:r>
              <a:rPr sz="1300" b="1">
                <a:solidFill>
                  <a:srgbClr val="FFFFFF"/>
                </a:solidFill>
                <a:latin typeface="Segoe UI"/>
              </a:rPr>
              <a:t>Community Feed: </a:t>
            </a:r>
            <a:r>
              <a:rPr sz="1300">
                <a:solidFill>
                  <a:srgbClr val="94A3B8"/>
                </a:solidFill>
                <a:latin typeface="Segoe UI"/>
              </a:rPr>
              <a:t>Create posts and interact with peers.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2011680"/>
            <a:ext cx="3328416" cy="39319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2331720"/>
            <a:ext cx="2688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F59E0B"/>
                </a:solidFill>
              </a:rPr>
              <a:t>🛡  </a:t>
            </a:r>
            <a:r>
              <a:rPr sz="1800" b="1">
                <a:solidFill>
                  <a:srgbClr val="FFFFFF"/>
                </a:solidFill>
                <a:latin typeface="Segoe UI"/>
              </a:rPr>
              <a:t>Moderator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2971800"/>
            <a:ext cx="2688336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59E0B"/>
                </a:solidFill>
              </a:rPr>
              <a:t>✔ </a:t>
            </a:r>
            <a:r>
              <a:rPr sz="1300" b="1">
                <a:solidFill>
                  <a:srgbClr val="FFFFFF"/>
                </a:solidFill>
                <a:latin typeface="Segoe UI"/>
              </a:rPr>
              <a:t>Report Queue: </a:t>
            </a:r>
            <a:r>
              <a:rPr sz="1300">
                <a:solidFill>
                  <a:srgbClr val="94A3B8"/>
                </a:solidFill>
                <a:latin typeface="Segoe UI"/>
              </a:rPr>
              <a:t>Review reported content and violations.</a:t>
            </a:r>
          </a:p>
          <a:p>
            <a:pPr>
              <a:spcBef>
                <a:spcPts val="1400"/>
              </a:spcBef>
            </a:pPr>
            <a:r>
              <a:rPr sz="1200" b="1">
                <a:solidFill>
                  <a:srgbClr val="F59E0B"/>
                </a:solidFill>
              </a:rPr>
              <a:t>✔ </a:t>
            </a:r>
            <a:r>
              <a:rPr sz="1300" b="1">
                <a:solidFill>
                  <a:srgbClr val="FFFFFF"/>
                </a:solidFill>
                <a:latin typeface="Segoe UI"/>
              </a:rPr>
              <a:t>Content Moderation: </a:t>
            </a:r>
            <a:r>
              <a:rPr sz="1300">
                <a:solidFill>
                  <a:srgbClr val="94A3B8"/>
                </a:solidFill>
                <a:latin typeface="Segoe UI"/>
              </a:rPr>
              <a:t>Dismiss flags or delete abusive posts.</a:t>
            </a:r>
          </a:p>
          <a:p>
            <a:pPr>
              <a:spcBef>
                <a:spcPts val="1400"/>
              </a:spcBef>
            </a:pPr>
            <a:r>
              <a:rPr sz="1200" b="1">
                <a:solidFill>
                  <a:srgbClr val="F59E0B"/>
                </a:solidFill>
              </a:rPr>
              <a:t>✔ </a:t>
            </a:r>
            <a:r>
              <a:rPr sz="1300" b="1">
                <a:solidFill>
                  <a:srgbClr val="FFFFFF"/>
                </a:solidFill>
                <a:latin typeface="Segoe UI"/>
              </a:rPr>
              <a:t>Dispute Resolution: </a:t>
            </a:r>
            <a:r>
              <a:rPr sz="1300">
                <a:solidFill>
                  <a:srgbClr val="94A3B8"/>
                </a:solidFill>
                <a:latin typeface="Segoe UI"/>
              </a:rPr>
              <a:t>Issue user warnings or temporary bans.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2011680"/>
            <a:ext cx="3328416" cy="39319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2331720"/>
            <a:ext cx="2688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EF4444"/>
                </a:solidFill>
              </a:rPr>
              <a:t>👤  </a:t>
            </a:r>
            <a:r>
              <a:rPr sz="1800" b="1">
                <a:solidFill>
                  <a:srgbClr val="FFFFFF"/>
                </a:solidFill>
                <a:latin typeface="Segoe UI"/>
              </a:rPr>
              <a:t>Administrator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971800"/>
            <a:ext cx="2688336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EF4444"/>
                </a:solidFill>
              </a:rPr>
              <a:t>✔ </a:t>
            </a:r>
            <a:r>
              <a:rPr sz="1300" b="1">
                <a:solidFill>
                  <a:srgbClr val="FFFFFF"/>
                </a:solidFill>
                <a:latin typeface="Segoe UI"/>
              </a:rPr>
              <a:t>Account Control: </a:t>
            </a:r>
            <a:r>
              <a:rPr sz="1300">
                <a:solidFill>
                  <a:srgbClr val="94A3B8"/>
                </a:solidFill>
                <a:latin typeface="Segoe UI"/>
              </a:rPr>
              <a:t>Monitor and toggle account status.</a:t>
            </a:r>
          </a:p>
          <a:p>
            <a:pPr>
              <a:spcBef>
                <a:spcPts val="1400"/>
              </a:spcBef>
            </a:pPr>
            <a:r>
              <a:rPr sz="1200" b="1">
                <a:solidFill>
                  <a:srgbClr val="EF4444"/>
                </a:solidFill>
              </a:rPr>
              <a:t>✔ </a:t>
            </a:r>
            <a:r>
              <a:rPr sz="1300" b="1">
                <a:solidFill>
                  <a:srgbClr val="FFFFFF"/>
                </a:solidFill>
                <a:latin typeface="Segoe UI"/>
              </a:rPr>
              <a:t>Role Allocation: </a:t>
            </a:r>
            <a:r>
              <a:rPr sz="1300">
                <a:solidFill>
                  <a:srgbClr val="94A3B8"/>
                </a:solidFill>
                <a:latin typeface="Segoe UI"/>
              </a:rPr>
              <a:t>Promote users to Moderators or Admins.</a:t>
            </a:r>
          </a:p>
          <a:p>
            <a:pPr>
              <a:spcBef>
                <a:spcPts val="1400"/>
              </a:spcBef>
            </a:pPr>
            <a:r>
              <a:rPr sz="1200" b="1">
                <a:solidFill>
                  <a:srgbClr val="EF4444"/>
                </a:solidFill>
              </a:rPr>
              <a:t>✔ </a:t>
            </a:r>
            <a:r>
              <a:rPr sz="1300" b="1">
                <a:solidFill>
                  <a:srgbClr val="FFFFFF"/>
                </a:solidFill>
                <a:latin typeface="Segoe UI"/>
              </a:rPr>
              <a:t>Audit Logs: </a:t>
            </a:r>
            <a:r>
              <a:rPr sz="1300">
                <a:solidFill>
                  <a:srgbClr val="94A3B8"/>
                </a:solidFill>
                <a:latin typeface="Segoe UI"/>
              </a:rPr>
              <a:t>View system activities and governance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1.3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Tools &amp; Core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138928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09728" cy="19202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67712"/>
            <a:ext cx="459028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FRONTEND LAYER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React.js &amp; TailwindCSS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Component-based dynamic UI rendered with Tailwind utility 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2011680"/>
            <a:ext cx="5138928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36208" y="2011680"/>
            <a:ext cx="109728" cy="1920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2267712"/>
            <a:ext cx="459028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BACKEND LAYER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Node.js &amp; Express.js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Asynchronous RESTful APIs with middleware routing and authentication.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5138928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109728" cy="1920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416552"/>
            <a:ext cx="459028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DATABASE LAYER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MongoDB NoSQL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Flexible document storage for user profiles, posts, and connection IDs.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4160520"/>
            <a:ext cx="5138928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36208" y="4160520"/>
            <a:ext cx="109728" cy="1920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4416552"/>
            <a:ext cx="459028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DEVELOPMENT TOOLS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VS Code, Postman, Git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API testing via Postman, version control with GitHub, diagrams via Eraser.io.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2.1 DEVELOPMENT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Agile Iterative Development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2395728" cy="29260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37944" y="283464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29000"/>
            <a:ext cx="202996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Planning</a:t>
            </a:r>
          </a:p>
          <a:p>
            <a:pPr algn="ctr"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Requirement analysis &amp; scope definition.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657600"/>
            <a:ext cx="1828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2468880"/>
            <a:ext cx="2395728" cy="29260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53712" y="283464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3429000"/>
            <a:ext cx="202996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Architecture</a:t>
            </a:r>
          </a:p>
          <a:p>
            <a:pPr algn="ctr"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Schema design &amp; API endpoint 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7608" y="3657600"/>
            <a:ext cx="1828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468880"/>
            <a:ext cx="2395728" cy="29260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69480" y="283464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3429000"/>
            <a:ext cx="202996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Modular Build</a:t>
            </a:r>
          </a:p>
          <a:p>
            <a:pPr algn="ctr"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Feature sprint development (Auth, Feed, Profile).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3376" y="3657600"/>
            <a:ext cx="1828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4" y="2468880"/>
            <a:ext cx="2395728" cy="29260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85248" y="283464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4" y="3429000"/>
            <a:ext cx="202996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  <a:p>
            <a:pPr algn="ctr"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Connecting React frontend with REST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3.1 DATA FLOW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System Data Flow Overview (Level 0 &amp; Level 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45775" cy="16916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30552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LEVEL 0 CONTEXT DFD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1215" y="2130552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Core Data Interchange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560320"/>
            <a:ext cx="1737360" cy="73152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651760"/>
            <a:ext cx="10972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>
                <a:solidFill>
                  <a:srgbClr val="94A3B8"/>
                </a:solidFill>
              </a:defRPr>
            </a:pPr>
            <a:r>
              <a:t>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1999" y="2532888"/>
            <a:ext cx="3291840" cy="777240"/>
          </a:xfrm>
          <a:prstGeom prst="roundRect">
            <a:avLst/>
          </a:prstGeom>
          <a:solidFill>
            <a:srgbClr val="0284C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Developer Networking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651760"/>
            <a:ext cx="10972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>
                <a:solidFill>
                  <a:srgbClr val="94A3B8"/>
                </a:solidFill>
              </a:defRPr>
            </a:pPr>
            <a:r>
              <a:t>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2468880"/>
            <a:ext cx="1463040" cy="384048"/>
          </a:xfrm>
          <a:prstGeom prst="roundRect">
            <a:avLst/>
          </a:prstGeom>
          <a:solidFill>
            <a:srgbClr val="4C1D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ECACA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953512"/>
            <a:ext cx="1463040" cy="384048"/>
          </a:xfrm>
          <a:prstGeom prst="roundRect">
            <a:avLst/>
          </a:prstGeom>
          <a:solidFill>
            <a:srgbClr val="452C0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EF08A"/>
                </a:solidFill>
                <a:latin typeface="Segoe UI"/>
              </a:defRPr>
            </a:pPr>
            <a:r>
              <a:t>Moderator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31920"/>
            <a:ext cx="3328416" cy="2194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277977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Developer 1st Level DFD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Auth &amp; Token → Manage Profile → Post Operations → Connection Requests → Feed Stream → Reports.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3931920"/>
            <a:ext cx="3328416" cy="2194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4206240"/>
            <a:ext cx="277977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Moderator 1st Level DFD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Login Verification → Fetch Reports Queue → Inspect User Activity → Issue Warnings / Bans → Remove Posts.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3931920"/>
            <a:ext cx="3328416" cy="2194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4206240"/>
            <a:ext cx="277977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Admin 1st Level DFD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Credential Verification → User Record Management → Role Upgrades/Downgrades → System Audit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3.2 DATABASE SCHEMA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Complete Entity Relationship Diagram (ERD)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423160" cy="13258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39111"/>
            <a:ext cx="2057400" cy="996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USER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id, username, email, passwordHash, createdAt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9584" y="1874519"/>
            <a:ext cx="2423160" cy="13258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2464" y="2039111"/>
            <a:ext cx="2057400" cy="996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Segoe UI"/>
              </a:defRPr>
            </a:pPr>
            <a:r>
              <a:t>POST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id, content, authorId, createdAt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874519"/>
            <a:ext cx="2423160" cy="13258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2039111"/>
            <a:ext cx="2057400" cy="996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CONNECTION_REQ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id, status, senderId, recipientId, createdAt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2832" y="1874519"/>
            <a:ext cx="2423160" cy="13258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5712" y="2039111"/>
            <a:ext cx="2057400" cy="996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Segoe UI"/>
              </a:defRPr>
            </a:pPr>
            <a:r>
              <a:t>CONNECTION_IDS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id, userId1, userId2, createdAt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29000"/>
            <a:ext cx="3328416" cy="13258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93592"/>
            <a:ext cx="2962656" cy="996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REPORT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id, type, reporterId, reportedUserId, reportedContent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3429000"/>
            <a:ext cx="3328416" cy="13258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3593592"/>
            <a:ext cx="2962656" cy="996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MODERATION_ACT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id, actionTaken, moderatorId, createdAt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3429000"/>
            <a:ext cx="3328416" cy="13258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3593592"/>
            <a:ext cx="2962656" cy="996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Segoe UI"/>
              </a:defRPr>
            </a:pPr>
            <a:r>
              <a:t>AUDIT_LOG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id, action, userId, details, timestamp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983480"/>
            <a:ext cx="10545775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166360"/>
            <a:ext cx="99056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Key Entity Relationships &amp; Cardinalities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USER (1,N) → CREATES → POST (1,1)  |  • USER (1,N) → SENDS → CONNECTION_REQUEST (0,N)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POST (1,N) → REPORTS → REPORT (0,N)  |  • REPORT (1,N) → MODERATES → MODERATION_ACTION (1,1)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Project Summary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138928" cy="31089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377440"/>
            <a:ext cx="548640" cy="548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54680"/>
            <a:ext cx="449884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Current Milestone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Successfully designed &amp; modeled core MERN backend, REST API structures, user roles, DFD flows, and ER schemas up to Section 3.2.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2011680"/>
            <a:ext cx="5138928" cy="31089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6248" y="2377440"/>
            <a:ext cx="548640" cy="548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3154680"/>
            <a:ext cx="449884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Future Planning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Implementation of Socket.io real-time chat, instant notifications, post likes/comments, and advanced search filters for developers.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10545775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Thank You!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